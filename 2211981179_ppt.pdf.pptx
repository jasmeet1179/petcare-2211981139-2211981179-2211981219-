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69" r:id="rId6"/>
    <p:sldId id="257" r:id="rId7"/>
    <p:sldId id="270" r:id="rId8"/>
    <p:sldId id="271" r:id="rId9"/>
    <p:sldId id="272" r:id="rId10"/>
    <p:sldId id="273" r:id="rId11"/>
    <p:sldId id="274" r:id="rId12"/>
    <p:sldId id="275" r:id="rId13"/>
    <p:sldId id="276" r:id="rId14"/>
    <p:sldId id="277"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5/13/2026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5/13/2026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spc="-1" dirty="0">
                <a:latin typeface="Times New Roman" panose="02020603050405020304" pitchFamily="18" charset="0"/>
                <a:ea typeface="Calibri" panose="020F0502020204030204" pitchFamily="34" charset="0"/>
                <a:cs typeface="Times New Roman" panose="02020603050405020304" pitchFamily="18" charset="0"/>
              </a:rPr>
              <a:t>PetCare</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Deepanshu 2211981139</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Jasmeet  2211981179</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Manjul 2211981219</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IN" dirty="0"/>
              <a:t>Dr. Ajay Kumar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0D48-35A5-D9EA-3097-E822C934822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Acknowledgement</a:t>
            </a:r>
          </a:p>
        </p:txBody>
      </p:sp>
      <p:sp>
        <p:nvSpPr>
          <p:cNvPr id="3" name="Subtitle 2">
            <a:extLst>
              <a:ext uri="{FF2B5EF4-FFF2-40B4-BE49-F238E27FC236}">
                <a16:creationId xmlns:a16="http://schemas.microsoft.com/office/drawing/2014/main" id="{921B07C6-731D-6A2D-597D-A569A49F5DBE}"/>
              </a:ext>
            </a:extLst>
          </p:cNvPr>
          <p:cNvSpPr>
            <a:spLocks noGrp="1"/>
          </p:cNvSpPr>
          <p:nvPr>
            <p:ph type="subTitle"/>
          </p:nvPr>
        </p:nvSpPr>
        <p:spPr>
          <a:xfrm>
            <a:off x="437535" y="1238864"/>
            <a:ext cx="8268929" cy="4159045"/>
          </a:xfrm>
        </p:spPr>
        <p:txBody>
          <a:bodyPr/>
          <a:lstStyle/>
          <a:p>
            <a:pPr marL="0" indent="0">
              <a:buNone/>
            </a:pPr>
            <a:r>
              <a:rPr lang="en-US" sz="2800" dirty="0">
                <a:latin typeface="Times New Roman" panose="02020603050405020304" pitchFamily="18" charset="0"/>
                <a:cs typeface="Times New Roman" panose="02020603050405020304" pitchFamily="18" charset="0"/>
              </a:rPr>
              <a:t>I wish to express my sincere gratitude to my project guide, for their invaluable guidance, constant encouragement, and insightful feedback throughout this project. Their ability was instrumental in navigating the technical challenges and ensuring the project's successful completion .I would also like to thank the Department of Computer Science &amp; Engineering for providing the necessary resources and a conducive learning environment that fostered innovation and critical thinking.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686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27660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40000"/>
              </a:lnSpc>
            </a:pPr>
            <a:endParaRPr lang="en-US" sz="2000" dirty="0">
              <a:solidFill>
                <a:srgbClr val="444444"/>
              </a:solidFill>
              <a:latin typeface="Times New Roman" panose="02020603050405020304" pitchFamily="18" charset="0"/>
              <a:cs typeface="Times New Roman" panose="02020603050405020304" pitchFamily="18" charset="0"/>
            </a:endParaRPr>
          </a:p>
          <a:p>
            <a:pPr>
              <a:lnSpc>
                <a:spcPct val="140000"/>
              </a:lnSpc>
            </a:pPr>
            <a:r>
              <a:rPr lang="en-US" sz="2000" dirty="0">
                <a:solidFill>
                  <a:srgbClr val="444444"/>
                </a:solidFill>
                <a:latin typeface="Times New Roman" panose="02020603050405020304" pitchFamily="18" charset="0"/>
                <a:cs typeface="Times New Roman" panose="02020603050405020304" pitchFamily="18" charset="0"/>
              </a:rPr>
              <a:t>Modern pet care management in India is fragmented busy urban pet parents juggle scattered apps for daycare bookings, stray animal reporting, and community interaction. PetCare is an integrated, full-stack web platform designed to centralize these needs into a single, actionable hub.</a:t>
            </a:r>
            <a:endParaRPr lang="en-US" sz="2000" dirty="0">
              <a:latin typeface="Times New Roman" panose="02020603050405020304" pitchFamily="18" charset="0"/>
              <a:cs typeface="Times New Roman" panose="02020603050405020304" pitchFamily="18" charset="0"/>
            </a:endParaRPr>
          </a:p>
          <a:p>
            <a:pPr>
              <a:lnSpc>
                <a:spcPct val="140000"/>
              </a:lnSpc>
            </a:pPr>
            <a:endParaRPr lang="en-US" sz="2000" dirty="0">
              <a:latin typeface="Times New Roman" panose="02020603050405020304" pitchFamily="18" charset="0"/>
              <a:cs typeface="Times New Roman" panose="02020603050405020304" pitchFamily="18" charset="0"/>
            </a:endParaRPr>
          </a:p>
          <a:p>
            <a:pPr>
              <a:lnSpc>
                <a:spcPct val="140000"/>
              </a:lnSpc>
            </a:pPr>
            <a:r>
              <a:rPr lang="en-US" sz="2000" dirty="0">
                <a:solidFill>
                  <a:srgbClr val="444444"/>
                </a:solidFill>
                <a:latin typeface="Times New Roman" panose="02020603050405020304" pitchFamily="18" charset="0"/>
                <a:cs typeface="Times New Roman" panose="02020603050405020304" pitchFamily="18" charset="0"/>
              </a:rPr>
              <a:t>By combining seamless creche bookings, a vibrant community for stray animal welfare, and real-time interactions, PetCare empowers pet lovers to make a difference for their own pets and for street animals through data-driven, community-powered solutions.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6D1A8-FFE3-8AB2-7EF7-1521637ACAC4}"/>
              </a:ext>
            </a:extLst>
          </p:cNvPr>
          <p:cNvSpPr>
            <a:spLocks noGrp="1"/>
          </p:cNvSpPr>
          <p:nvPr>
            <p:ph type="title"/>
          </p:nvPr>
        </p:nvSpPr>
        <p:spPr>
          <a:xfrm>
            <a:off x="262890" y="0"/>
            <a:ext cx="5486040" cy="914040"/>
          </a:xfrm>
        </p:spPr>
        <p:txBody>
          <a:bodyPr/>
          <a:lstStyle/>
          <a:p>
            <a:r>
              <a:rPr lang="en-IN" b="1" dirty="0">
                <a:latin typeface="Times New Roman" panose="02020603050405020304" pitchFamily="18" charset="0"/>
                <a:cs typeface="Times New Roman" panose="02020603050405020304" pitchFamily="18" charset="0"/>
              </a:rPr>
              <a:t>Problem Statement: </a:t>
            </a:r>
          </a:p>
        </p:txBody>
      </p:sp>
      <p:sp>
        <p:nvSpPr>
          <p:cNvPr id="3" name="Subtitle 2">
            <a:extLst>
              <a:ext uri="{FF2B5EF4-FFF2-40B4-BE49-F238E27FC236}">
                <a16:creationId xmlns:a16="http://schemas.microsoft.com/office/drawing/2014/main" id="{5CAF7C55-E2E3-50A2-3942-0C09C675F22F}"/>
              </a:ext>
            </a:extLst>
          </p:cNvPr>
          <p:cNvSpPr>
            <a:spLocks noGrp="1"/>
          </p:cNvSpPr>
          <p:nvPr>
            <p:ph type="subTitle"/>
          </p:nvPr>
        </p:nvSpPr>
        <p:spPr>
          <a:xfrm>
            <a:off x="262890" y="976793"/>
            <a:ext cx="8332110" cy="5372100"/>
          </a:xfrm>
        </p:spPr>
        <p:txBody>
          <a:bodyPr/>
          <a:lstStyle/>
          <a:p>
            <a:pPr marL="0" indent="0">
              <a:lnSpc>
                <a:spcPct val="140000"/>
              </a:lnSpc>
              <a:buNone/>
            </a:pPr>
            <a:r>
              <a:rPr lang="en-US" sz="2000" dirty="0">
                <a:solidFill>
                  <a:srgbClr val="444444"/>
                </a:solidFill>
                <a:latin typeface="Times New Roman" panose="02020603050405020304" pitchFamily="18" charset="0"/>
                <a:cs typeface="Times New Roman" panose="02020603050405020304" pitchFamily="18" charset="0"/>
              </a:rPr>
              <a:t>In bustling Indian cities like Mumbai and Delhi, pet parents struggle to find reliable daycare existing apps are scattered, unreliable, or fail to provide peace of mind. Simultaneously, millions of stray animal's roam city streets, facing hunger and danger, while fragmented services leave communities unable to help effectively.</a:t>
            </a:r>
            <a:endParaRPr lang="en-US" sz="2000" dirty="0">
              <a:latin typeface="Times New Roman" panose="02020603050405020304" pitchFamily="18" charset="0"/>
              <a:cs typeface="Times New Roman" panose="02020603050405020304" pitchFamily="18" charset="0"/>
            </a:endParaRPr>
          </a:p>
          <a:p>
            <a:pPr marL="0" indent="0">
              <a:lnSpc>
                <a:spcPct val="140000"/>
              </a:lnSpc>
              <a:buNone/>
            </a:pPr>
            <a:r>
              <a:rPr lang="en-US" sz="2000" dirty="0">
                <a:solidFill>
                  <a:srgbClr val="444444"/>
                </a:solidFill>
                <a:latin typeface="Times New Roman" panose="02020603050405020304" pitchFamily="18" charset="0"/>
                <a:cs typeface="Times New Roman" panose="02020603050405020304" pitchFamily="18" charset="0"/>
              </a:rPr>
              <a:t>Existing solutions either handle only creche bookings or only adoption listings nothing connects the dots for community reporting, welfare, and seamless service access. There is a clear need for a single, lightweight, and engaging web-based platform that centralizes creche search and booking, stray animal sightings, community interaction, and responsible rehoming-all in one place.</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9056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91627-C4BE-FC4A-5A3E-F5568E2DB702}"/>
              </a:ext>
            </a:extLst>
          </p:cNvPr>
          <p:cNvSpPr>
            <a:spLocks noGrp="1"/>
          </p:cNvSpPr>
          <p:nvPr>
            <p:ph type="title"/>
          </p:nvPr>
        </p:nvSpPr>
        <p:spPr>
          <a:xfrm>
            <a:off x="457200" y="0"/>
            <a:ext cx="3246120" cy="914040"/>
          </a:xfrm>
        </p:spPr>
        <p:txBody>
          <a:bodyPr/>
          <a:lstStyle/>
          <a:p>
            <a:r>
              <a:rPr lang="en-IN" b="1" dirty="0">
                <a:latin typeface="Times New Roman" panose="02020603050405020304" pitchFamily="18" charset="0"/>
                <a:cs typeface="Times New Roman" panose="02020603050405020304" pitchFamily="18" charset="0"/>
              </a:rPr>
              <a:t>Objectives</a:t>
            </a:r>
            <a:r>
              <a:rPr lang="en-IN" dirty="0"/>
              <a:t>: </a:t>
            </a:r>
          </a:p>
        </p:txBody>
      </p:sp>
      <p:sp>
        <p:nvSpPr>
          <p:cNvPr id="3" name="Subtitle 2">
            <a:extLst>
              <a:ext uri="{FF2B5EF4-FFF2-40B4-BE49-F238E27FC236}">
                <a16:creationId xmlns:a16="http://schemas.microsoft.com/office/drawing/2014/main" id="{476909DB-DC81-8D6C-A0AB-70AA81904E6A}"/>
              </a:ext>
            </a:extLst>
          </p:cNvPr>
          <p:cNvSpPr>
            <a:spLocks noGrp="1"/>
          </p:cNvSpPr>
          <p:nvPr>
            <p:ph type="subTitle"/>
          </p:nvPr>
        </p:nvSpPr>
        <p:spPr>
          <a:xfrm>
            <a:off x="457200" y="1318770"/>
            <a:ext cx="8229240" cy="3977280"/>
          </a:xfrm>
        </p:spPr>
        <p:txBody>
          <a:bodyPr/>
          <a:lstStyle/>
          <a:p>
            <a:pPr marL="0" indent="0">
              <a:lnSpc>
                <a:spcPct val="150000"/>
              </a:lnSpc>
              <a:buNone/>
            </a:pPr>
            <a:r>
              <a:rPr lang="en-US" sz="2000" dirty="0">
                <a:solidFill>
                  <a:srgbClr val="444444"/>
                </a:solidFill>
                <a:latin typeface="Times New Roman" panose="02020603050405020304" pitchFamily="18" charset="0"/>
                <a:cs typeface="Times New Roman" panose="02020603050405020304" pitchFamily="18" charset="0"/>
              </a:rPr>
              <a:t>1.  Build a full-stack web app that bridges pet creches with owners.</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solidFill>
                  <a:srgbClr val="444444"/>
                </a:solidFill>
                <a:latin typeface="Times New Roman" panose="02020603050405020304" pitchFamily="18" charset="0"/>
                <a:cs typeface="Times New Roman" panose="02020603050405020304" pitchFamily="18" charset="0"/>
              </a:rPr>
              <a:t>2.  Enable easy searching, comparing, and booking of creches.</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solidFill>
                  <a:srgbClr val="444444"/>
                </a:solidFill>
                <a:latin typeface="Times New Roman" panose="02020603050405020304" pitchFamily="18" charset="0"/>
                <a:cs typeface="Times New Roman" panose="02020603050405020304" pitchFamily="18" charset="0"/>
              </a:rPr>
              <a:t>3.  Create a vibrant, friendly hub for pet lovers to connect and share.</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solidFill>
                  <a:srgbClr val="444444"/>
                </a:solidFill>
                <a:latin typeface="Times New Roman" panose="02020603050405020304" pitchFamily="18" charset="0"/>
                <a:cs typeface="Times New Roman" panose="02020603050405020304" pitchFamily="18" charset="0"/>
              </a:rPr>
              <a:t>4.  Build a community where pet lovers unite to post about pets and stories.</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solidFill>
                  <a:srgbClr val="444444"/>
                </a:solidFill>
                <a:latin typeface="Times New Roman" panose="02020603050405020304" pitchFamily="18" charset="0"/>
                <a:cs typeface="Times New Roman" panose="02020603050405020304" pitchFamily="18" charset="0"/>
              </a:rPr>
              <a:t>5.  Drive adoptions and stray welfare via interactive user comments.</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solidFill>
                  <a:srgbClr val="444444"/>
                </a:solidFill>
                <a:latin typeface="Times New Roman" panose="02020603050405020304" pitchFamily="18" charset="0"/>
                <a:cs typeface="Times New Roman" panose="02020603050405020304" pitchFamily="18" charset="0"/>
              </a:rPr>
              <a:t>6.  Boost creche bookings by 30-50% through targeted features.</a:t>
            </a:r>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3550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7A7FB-756B-8D16-BFC7-3E862363FB09}"/>
              </a:ext>
            </a:extLst>
          </p:cNvPr>
          <p:cNvSpPr>
            <a:spLocks noGrp="1"/>
          </p:cNvSpPr>
          <p:nvPr>
            <p:ph type="title"/>
          </p:nvPr>
        </p:nvSpPr>
        <p:spPr>
          <a:xfrm>
            <a:off x="308610" y="91440"/>
            <a:ext cx="5486040" cy="914040"/>
          </a:xfrm>
        </p:spPr>
        <p:txBody>
          <a:bodyPr/>
          <a:lstStyle/>
          <a:p>
            <a:r>
              <a:rPr lang="en-IN" b="1" dirty="0">
                <a:latin typeface="Times New Roman" panose="02020603050405020304" pitchFamily="18" charset="0"/>
                <a:cs typeface="Times New Roman" panose="02020603050405020304" pitchFamily="18" charset="0"/>
              </a:rPr>
              <a:t>Literature Review </a:t>
            </a:r>
          </a:p>
        </p:txBody>
      </p:sp>
      <p:sp>
        <p:nvSpPr>
          <p:cNvPr id="3" name="Subtitle 2">
            <a:extLst>
              <a:ext uri="{FF2B5EF4-FFF2-40B4-BE49-F238E27FC236}">
                <a16:creationId xmlns:a16="http://schemas.microsoft.com/office/drawing/2014/main" id="{504E791B-C9CD-C883-DA4C-F776AABDB3F2}"/>
              </a:ext>
            </a:extLst>
          </p:cNvPr>
          <p:cNvSpPr>
            <a:spLocks noGrp="1"/>
          </p:cNvSpPr>
          <p:nvPr>
            <p:ph type="subTitle"/>
          </p:nvPr>
        </p:nvSpPr>
        <p:spPr>
          <a:xfrm>
            <a:off x="308610" y="1158165"/>
            <a:ext cx="8229240" cy="4541670"/>
          </a:xfrm>
        </p:spPr>
        <p:txBody>
          <a:bodyPr/>
          <a:lstStyle/>
          <a:p>
            <a:pPr marL="0" indent="0">
              <a:buNone/>
            </a:pPr>
            <a:r>
              <a:rPr lang="en-US" sz="2400" b="1" dirty="0">
                <a:solidFill>
                  <a:srgbClr val="111111"/>
                </a:solidFill>
                <a:latin typeface="Times New Roman" panose="02020603050405020304" pitchFamily="18" charset="0"/>
                <a:cs typeface="Times New Roman" panose="02020603050405020304" pitchFamily="18" charset="0"/>
              </a:rPr>
              <a:t>1. Existing Creche Apps:</a:t>
            </a:r>
            <a:r>
              <a:rPr lang="en-US" sz="2400" dirty="0">
                <a:solidFill>
                  <a:srgbClr val="444444"/>
                </a:solidFill>
                <a:latin typeface="Times New Roman" panose="02020603050405020304" pitchFamily="18" charset="0"/>
                <a:cs typeface="Times New Roman" panose="02020603050405020304" pitchFamily="18" charset="0"/>
              </a:rPr>
              <a:t>  Handle individual bookings but lack community features, stray welfare tools, and comparison functionality.</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solidFill>
                  <a:srgbClr val="111111"/>
                </a:solidFill>
                <a:latin typeface="Times New Roman" panose="02020603050405020304" pitchFamily="18" charset="0"/>
                <a:cs typeface="Times New Roman" panose="02020603050405020304" pitchFamily="18" charset="0"/>
              </a:rPr>
              <a:t>2. Adoption Platforms:</a:t>
            </a:r>
            <a:r>
              <a:rPr lang="en-US" sz="2400" dirty="0">
                <a:solidFill>
                  <a:srgbClr val="444444"/>
                </a:solidFill>
                <a:latin typeface="Times New Roman" panose="02020603050405020304" pitchFamily="18" charset="0"/>
                <a:cs typeface="Times New Roman" panose="02020603050405020304" pitchFamily="18" charset="0"/>
              </a:rPr>
              <a:t>  Provide listing services for stray animals but lack integrated pet service bookings or real-time community interaction.</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solidFill>
                  <a:srgbClr val="111111"/>
                </a:solidFill>
                <a:latin typeface="Times New Roman" panose="02020603050405020304" pitchFamily="18" charset="0"/>
                <a:cs typeface="Times New Roman" panose="02020603050405020304" pitchFamily="18" charset="0"/>
              </a:rPr>
              <a:t>3. PetCare Advantage:</a:t>
            </a:r>
            <a:r>
              <a:rPr lang="en-US" sz="2400" dirty="0">
                <a:solidFill>
                  <a:srgbClr val="444444"/>
                </a:solidFill>
                <a:latin typeface="Times New Roman" panose="02020603050405020304" pitchFamily="18" charset="0"/>
                <a:cs typeface="Times New Roman" panose="02020603050405020304" pitchFamily="18" charset="0"/>
              </a:rPr>
              <a:t>  Combines creche bookings, stray sighting posts, community comments, and admin oversight—all in one clean, mobile-friendly platform.</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4781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D027-7AD0-1185-ACD5-DF64396F20B6}"/>
              </a:ext>
            </a:extLst>
          </p:cNvPr>
          <p:cNvSpPr>
            <a:spLocks noGrp="1"/>
          </p:cNvSpPr>
          <p:nvPr>
            <p:ph type="title"/>
          </p:nvPr>
        </p:nvSpPr>
        <p:spPr>
          <a:xfrm>
            <a:off x="285190" y="0"/>
            <a:ext cx="5486040" cy="914040"/>
          </a:xfrm>
        </p:spPr>
        <p:txBody>
          <a:bodyPr/>
          <a:lstStyle/>
          <a:p>
            <a:r>
              <a:rPr lang="en-IN" b="1" dirty="0">
                <a:latin typeface="Times New Roman" panose="02020603050405020304" pitchFamily="18" charset="0"/>
                <a:cs typeface="Times New Roman" panose="02020603050405020304" pitchFamily="18" charset="0"/>
              </a:rPr>
              <a:t>Technology Stack: </a:t>
            </a:r>
          </a:p>
        </p:txBody>
      </p:sp>
      <p:sp>
        <p:nvSpPr>
          <p:cNvPr id="3" name="Subtitle 2">
            <a:extLst>
              <a:ext uri="{FF2B5EF4-FFF2-40B4-BE49-F238E27FC236}">
                <a16:creationId xmlns:a16="http://schemas.microsoft.com/office/drawing/2014/main" id="{4A39B6F8-FCD4-F1C7-DD7B-797312EA2027}"/>
              </a:ext>
            </a:extLst>
          </p:cNvPr>
          <p:cNvSpPr>
            <a:spLocks noGrp="1"/>
          </p:cNvSpPr>
          <p:nvPr>
            <p:ph type="subTitle"/>
          </p:nvPr>
        </p:nvSpPr>
        <p:spPr>
          <a:xfrm>
            <a:off x="285190" y="1223682"/>
            <a:ext cx="7908551" cy="3536577"/>
          </a:xfrm>
        </p:spPr>
        <p:txBody>
          <a:bodyPr/>
          <a:lstStyle/>
          <a:p>
            <a:pPr marL="0" indent="0">
              <a:buNone/>
            </a:pPr>
            <a:r>
              <a:rPr lang="en-US" sz="1400" b="1" dirty="0">
                <a:solidFill>
                  <a:srgbClr val="111111"/>
                </a:solidFill>
                <a:latin typeface="Times New Roman" panose="02020603050405020304" pitchFamily="18" charset="0"/>
                <a:cs typeface="Times New Roman" panose="02020603050405020304" pitchFamily="18" charset="0"/>
              </a:rPr>
              <a:t>Backend:                                                                                                  Frontend:</a:t>
            </a:r>
            <a:endParaRPr lang="en-US" sz="1400" dirty="0">
              <a:latin typeface="Times New Roman" panose="02020603050405020304" pitchFamily="18" charset="0"/>
              <a:cs typeface="Times New Roman" panose="02020603050405020304" pitchFamily="18" charset="0"/>
            </a:endParaRPr>
          </a:p>
          <a:p>
            <a:pPr marL="0" indent="0">
              <a:lnSpc>
                <a:spcPct val="150000"/>
              </a:lnSpc>
              <a:buNone/>
            </a:pPr>
            <a:r>
              <a:rPr lang="en-US" sz="1400" dirty="0">
                <a:solidFill>
                  <a:srgbClr val="444444"/>
                </a:solidFill>
                <a:latin typeface="Times New Roman" panose="02020603050405020304" pitchFamily="18" charset="0"/>
                <a:cs typeface="Times New Roman" panose="02020603050405020304" pitchFamily="18" charset="0"/>
              </a:rPr>
              <a:t>Primary language: JavaScript                                                                   Primary language: JavaScript</a:t>
            </a:r>
            <a:endParaRPr lang="en-US" sz="1400" dirty="0">
              <a:latin typeface="Times New Roman" panose="02020603050405020304" pitchFamily="18" charset="0"/>
              <a:cs typeface="Times New Roman" panose="02020603050405020304" pitchFamily="18" charset="0"/>
            </a:endParaRPr>
          </a:p>
          <a:p>
            <a:pPr marL="0" indent="0">
              <a:lnSpc>
                <a:spcPct val="150000"/>
              </a:lnSpc>
              <a:buNone/>
            </a:pPr>
            <a:r>
              <a:rPr lang="en-US" sz="1400" dirty="0">
                <a:solidFill>
                  <a:srgbClr val="444444"/>
                </a:solidFill>
                <a:latin typeface="Times New Roman" panose="02020603050405020304" pitchFamily="18" charset="0"/>
                <a:cs typeface="Times New Roman" panose="02020603050405020304" pitchFamily="18" charset="0"/>
              </a:rPr>
              <a:t>Runtime: Node.js                                                                                      Framework: React.js</a:t>
            </a:r>
            <a:endParaRPr lang="en-US" sz="1400" dirty="0">
              <a:latin typeface="Times New Roman" panose="02020603050405020304" pitchFamily="18" charset="0"/>
              <a:cs typeface="Times New Roman" panose="02020603050405020304" pitchFamily="18" charset="0"/>
            </a:endParaRPr>
          </a:p>
          <a:p>
            <a:pPr marL="0" indent="0">
              <a:lnSpc>
                <a:spcPct val="150000"/>
              </a:lnSpc>
              <a:buNone/>
            </a:pPr>
            <a:r>
              <a:rPr lang="en-US" sz="1400" dirty="0">
                <a:solidFill>
                  <a:srgbClr val="444444"/>
                </a:solidFill>
                <a:latin typeface="Times New Roman" panose="02020603050405020304" pitchFamily="18" charset="0"/>
                <a:cs typeface="Times New Roman" panose="02020603050405020304" pitchFamily="18" charset="0"/>
              </a:rPr>
              <a:t>Framework: Express.js                                                                             Build tool: Vite</a:t>
            </a:r>
            <a:endParaRPr lang="en-US" sz="1400" dirty="0">
              <a:latin typeface="Times New Roman" panose="02020603050405020304" pitchFamily="18" charset="0"/>
              <a:cs typeface="Times New Roman" panose="02020603050405020304" pitchFamily="18" charset="0"/>
            </a:endParaRPr>
          </a:p>
          <a:p>
            <a:pPr marL="0" indent="0">
              <a:lnSpc>
                <a:spcPct val="150000"/>
              </a:lnSpc>
              <a:buNone/>
            </a:pPr>
            <a:r>
              <a:rPr lang="en-US" sz="1400" dirty="0">
                <a:solidFill>
                  <a:srgbClr val="444444"/>
                </a:solidFill>
                <a:latin typeface="Times New Roman" panose="02020603050405020304" pitchFamily="18" charset="0"/>
                <a:cs typeface="Times New Roman" panose="02020603050405020304" pitchFamily="18" charset="0"/>
              </a:rPr>
              <a:t>Database: JSON Files (fs module)                                                           State: useState, useEffect, useContext</a:t>
            </a:r>
            <a:endParaRPr lang="en-US" sz="1400" dirty="0">
              <a:latin typeface="Times New Roman" panose="02020603050405020304" pitchFamily="18" charset="0"/>
              <a:cs typeface="Times New Roman" panose="02020603050405020304" pitchFamily="18" charset="0"/>
            </a:endParaRPr>
          </a:p>
          <a:p>
            <a:pPr marL="0" indent="0">
              <a:lnSpc>
                <a:spcPct val="150000"/>
              </a:lnSpc>
              <a:buNone/>
            </a:pPr>
            <a:r>
              <a:rPr lang="en-US" sz="1400" dirty="0">
                <a:solidFill>
                  <a:srgbClr val="444444"/>
                </a:solidFill>
                <a:latin typeface="Times New Roman" panose="02020603050405020304" pitchFamily="18" charset="0"/>
                <a:cs typeface="Times New Roman" panose="02020603050405020304" pitchFamily="18" charset="0"/>
              </a:rPr>
              <a:t>Auth: JWT + bcrypt                                                                                 Routing: React Router</a:t>
            </a:r>
            <a:endParaRPr lang="en-US" sz="1400" dirty="0">
              <a:latin typeface="Times New Roman" panose="02020603050405020304" pitchFamily="18" charset="0"/>
              <a:cs typeface="Times New Roman" panose="02020603050405020304" pitchFamily="18" charset="0"/>
            </a:endParaRPr>
          </a:p>
          <a:p>
            <a:pPr marL="0" indent="0">
              <a:lnSpc>
                <a:spcPct val="150000"/>
              </a:lnSpc>
              <a:buNone/>
            </a:pPr>
            <a:r>
              <a:rPr lang="en-US" sz="1400" dirty="0">
                <a:solidFill>
                  <a:srgbClr val="444444"/>
                </a:solidFill>
                <a:latin typeface="Times New Roman" panose="02020603050405020304" pitchFamily="18" charset="0"/>
                <a:cs typeface="Times New Roman" panose="02020603050405020304" pitchFamily="18" charset="0"/>
              </a:rPr>
              <a:t>Media: Cloudinary                                                                                   Styling: HTML and CSS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1761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FF22-CAB6-A220-D488-0DD514BABA4D}"/>
              </a:ext>
            </a:extLst>
          </p:cNvPr>
          <p:cNvSpPr>
            <a:spLocks noGrp="1"/>
          </p:cNvSpPr>
          <p:nvPr>
            <p:ph type="title"/>
          </p:nvPr>
        </p:nvSpPr>
        <p:spPr>
          <a:xfrm>
            <a:off x="233082" y="45004"/>
            <a:ext cx="5486040" cy="914040"/>
          </a:xfrm>
        </p:spPr>
        <p:txBody>
          <a:bodyPr/>
          <a:lstStyle/>
          <a:p>
            <a:r>
              <a:rPr lang="en-IN" sz="4000" b="1" dirty="0">
                <a:latin typeface="Times New Roman" panose="02020603050405020304" pitchFamily="18" charset="0"/>
                <a:cs typeface="Times New Roman" panose="02020603050405020304" pitchFamily="18" charset="0"/>
              </a:rPr>
              <a:t>Challenges &amp; Solutions: </a:t>
            </a:r>
          </a:p>
        </p:txBody>
      </p:sp>
      <p:sp>
        <p:nvSpPr>
          <p:cNvPr id="3" name="Subtitle 2">
            <a:extLst>
              <a:ext uri="{FF2B5EF4-FFF2-40B4-BE49-F238E27FC236}">
                <a16:creationId xmlns:a16="http://schemas.microsoft.com/office/drawing/2014/main" id="{278E3FAA-34E1-5257-B033-C250751BED5C}"/>
              </a:ext>
            </a:extLst>
          </p:cNvPr>
          <p:cNvSpPr>
            <a:spLocks noGrp="1"/>
          </p:cNvSpPr>
          <p:nvPr>
            <p:ph type="subTitle"/>
          </p:nvPr>
        </p:nvSpPr>
        <p:spPr>
          <a:xfrm>
            <a:off x="53788" y="1075764"/>
            <a:ext cx="9090212" cy="5280212"/>
          </a:xfrm>
        </p:spPr>
        <p:txBody>
          <a:bodyPr/>
          <a:lstStyle/>
          <a:p>
            <a:r>
              <a:rPr lang="en-US" sz="2000" b="1" dirty="0">
                <a:solidFill>
                  <a:srgbClr val="111111"/>
                </a:solidFill>
                <a:latin typeface="Times New Roman" panose="02020603050405020304" pitchFamily="18" charset="0"/>
                <a:cs typeface="Times New Roman" panose="02020603050405020304" pitchFamily="18" charset="0"/>
              </a:rPr>
              <a:t>Integrating image uploads:
</a:t>
            </a:r>
            <a:r>
              <a:rPr lang="en-US" sz="2000" dirty="0">
                <a:solidFill>
                  <a:srgbClr val="444444"/>
                </a:solidFill>
                <a:latin typeface="Times New Roman" panose="02020603050405020304" pitchFamily="18" charset="0"/>
                <a:cs typeface="Times New Roman" panose="02020603050405020304" pitchFamily="18" charset="0"/>
              </a:rPr>
              <a:t>Solution: Used Cloudinary for secure, optimized cloud-based photo storage and retrieval.</a:t>
            </a:r>
            <a:endParaRPr lang="en-US" sz="2000" dirty="0">
              <a:latin typeface="Times New Roman" panose="02020603050405020304" pitchFamily="18" charset="0"/>
              <a:cs typeface="Times New Roman" panose="02020603050405020304" pitchFamily="18" charset="0"/>
            </a:endParaRPr>
          </a:p>
          <a:p>
            <a:r>
              <a:rPr lang="en-US" sz="2000" b="1" dirty="0">
                <a:solidFill>
                  <a:srgbClr val="111111"/>
                </a:solidFill>
                <a:latin typeface="Times New Roman" panose="02020603050405020304" pitchFamily="18" charset="0"/>
                <a:cs typeface="Times New Roman" panose="02020603050405020304" pitchFamily="18" charset="0"/>
              </a:rPr>
              <a:t>Handling multiple user roles:
</a:t>
            </a:r>
            <a:r>
              <a:rPr lang="en-US" sz="2000" dirty="0">
                <a:solidFill>
                  <a:srgbClr val="444444"/>
                </a:solidFill>
                <a:latin typeface="Times New Roman" panose="02020603050405020304" pitchFamily="18" charset="0"/>
                <a:cs typeface="Times New Roman" panose="02020603050405020304" pitchFamily="18" charset="0"/>
              </a:rPr>
              <a:t>Solution: Built an Owner Secret Key system to prevent unauthorized creche registrations.</a:t>
            </a:r>
            <a:endParaRPr lang="en-US" sz="2000" dirty="0">
              <a:latin typeface="Times New Roman" panose="02020603050405020304" pitchFamily="18" charset="0"/>
              <a:cs typeface="Times New Roman" panose="02020603050405020304" pitchFamily="18" charset="0"/>
            </a:endParaRPr>
          </a:p>
          <a:p>
            <a:r>
              <a:rPr lang="en-US" sz="2000" b="1" dirty="0">
                <a:solidFill>
                  <a:srgbClr val="111111"/>
                </a:solidFill>
                <a:latin typeface="Times New Roman" panose="02020603050405020304" pitchFamily="18" charset="0"/>
                <a:cs typeface="Times New Roman" panose="02020603050405020304" pitchFamily="18" charset="0"/>
              </a:rPr>
              <a:t>Community moderation:
</a:t>
            </a:r>
            <a:r>
              <a:rPr lang="en-US" sz="2000" dirty="0">
                <a:solidFill>
                  <a:srgbClr val="444444"/>
                </a:solidFill>
                <a:latin typeface="Times New Roman" panose="02020603050405020304" pitchFamily="18" charset="0"/>
                <a:cs typeface="Times New Roman" panose="02020603050405020304" pitchFamily="18" charset="0"/>
              </a:rPr>
              <a:t>Solution: Implemented an Admin Dashboard for post approval and user management.</a:t>
            </a:r>
            <a:endParaRPr lang="en-US" sz="2000" dirty="0">
              <a:latin typeface="Times New Roman" panose="02020603050405020304" pitchFamily="18" charset="0"/>
              <a:cs typeface="Times New Roman" panose="02020603050405020304" pitchFamily="18" charset="0"/>
            </a:endParaRPr>
          </a:p>
          <a:p>
            <a:r>
              <a:rPr lang="en-US" sz="2000" b="1" dirty="0">
                <a:solidFill>
                  <a:srgbClr val="111111"/>
                </a:solidFill>
                <a:latin typeface="Times New Roman" panose="02020603050405020304" pitchFamily="18" charset="0"/>
                <a:cs typeface="Times New Roman" panose="02020603050405020304" pitchFamily="18" charset="0"/>
              </a:rPr>
              <a:t>Secure authentication:
</a:t>
            </a:r>
            <a:r>
              <a:rPr lang="en-US" sz="2000" dirty="0">
                <a:solidFill>
                  <a:srgbClr val="444444"/>
                </a:solidFill>
                <a:latin typeface="Times New Roman" panose="02020603050405020304" pitchFamily="18" charset="0"/>
                <a:cs typeface="Times New Roman" panose="02020603050405020304" pitchFamily="18" charset="0"/>
              </a:rPr>
              <a:t>Solution: Used JWT tokens and bcrypt password hashing for safe session management.</a:t>
            </a:r>
            <a:endParaRPr lang="en-US" sz="2000" dirty="0">
              <a:latin typeface="Times New Roman" panose="02020603050405020304" pitchFamily="18" charset="0"/>
              <a:cs typeface="Times New Roman" panose="02020603050405020304" pitchFamily="18" charset="0"/>
            </a:endParaRPr>
          </a:p>
          <a:p>
            <a:r>
              <a:rPr lang="en-US" sz="2000" b="1" dirty="0">
                <a:solidFill>
                  <a:srgbClr val="111111"/>
                </a:solidFill>
                <a:latin typeface="Times New Roman" panose="02020603050405020304" pitchFamily="18" charset="0"/>
                <a:cs typeface="Times New Roman" panose="02020603050405020304" pitchFamily="18" charset="0"/>
              </a:rPr>
              <a:t>Cross-device compatibility:
</a:t>
            </a:r>
            <a:r>
              <a:rPr lang="en-US" sz="2000" dirty="0">
                <a:solidFill>
                  <a:srgbClr val="444444"/>
                </a:solidFill>
                <a:latin typeface="Times New Roman" panose="02020603050405020304" pitchFamily="18" charset="0"/>
                <a:cs typeface="Times New Roman" panose="02020603050405020304" pitchFamily="18" charset="0"/>
              </a:rPr>
              <a:t>Solution: Built with responsive React components tested across browsers and devices.</a:t>
            </a: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6722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1F948-D4BF-E756-952D-BA7413DE936A}"/>
              </a:ext>
            </a:extLst>
          </p:cNvPr>
          <p:cNvSpPr>
            <a:spLocks noGrp="1"/>
          </p:cNvSpPr>
          <p:nvPr>
            <p:ph type="title"/>
          </p:nvPr>
        </p:nvSpPr>
        <p:spPr>
          <a:xfrm>
            <a:off x="457200" y="62753"/>
            <a:ext cx="5486040" cy="914040"/>
          </a:xfrm>
        </p:spPr>
        <p:txBody>
          <a:bodyPr/>
          <a:lstStyle/>
          <a:p>
            <a:r>
              <a:rPr lang="en-IN" b="1">
                <a:latin typeface="Times New Roman" panose="02020603050405020304" pitchFamily="18" charset="0"/>
                <a:cs typeface="Times New Roman" panose="02020603050405020304" pitchFamily="18" charset="0"/>
              </a:rPr>
              <a:t>Limitations: </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BC2415C-8704-E221-54F4-705375592A93}"/>
              </a:ext>
            </a:extLst>
          </p:cNvPr>
          <p:cNvSpPr>
            <a:spLocks noGrp="1"/>
          </p:cNvSpPr>
          <p:nvPr>
            <p:ph type="subTitle"/>
          </p:nvPr>
        </p:nvSpPr>
        <p:spPr>
          <a:xfrm>
            <a:off x="457200" y="1210073"/>
            <a:ext cx="8229240" cy="3977280"/>
          </a:xfrm>
        </p:spPr>
        <p:txBody>
          <a:bodyPr/>
          <a:lstStyle/>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1.  Creche data accuracy depends on owner-submitted information, not verified       third-party sources.</a:t>
            </a:r>
            <a:endParaRPr lang="en-US" sz="2000"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2.  No AI-based creche recommendation system in the current version.</a:t>
            </a:r>
            <a:endParaRPr lang="en-US" sz="2000"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3.  Currently supports only web browsers—no native mobile app yet.</a:t>
            </a:r>
            <a:endParaRPr lang="en-US" sz="2000"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4.  Online payment gateway not yet integrated; bookings are manual.</a:t>
            </a:r>
            <a:endParaRPr lang="en-US" sz="2000"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5.  Stray post moderation relies on admin review, limiting real-time response.</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0095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25FD-E6F0-14FE-48B2-E52978679991}"/>
              </a:ext>
            </a:extLst>
          </p:cNvPr>
          <p:cNvSpPr>
            <a:spLocks noGrp="1"/>
          </p:cNvSpPr>
          <p:nvPr>
            <p:ph type="title"/>
          </p:nvPr>
        </p:nvSpPr>
        <p:spPr>
          <a:xfrm>
            <a:off x="322729" y="0"/>
            <a:ext cx="5486040" cy="914040"/>
          </a:xfrm>
        </p:spPr>
        <p:txBody>
          <a:bodyPr/>
          <a:lstStyle/>
          <a:p>
            <a:r>
              <a:rPr lang="en-IN" b="1" dirty="0">
                <a:latin typeface="Times New Roman" panose="02020603050405020304" pitchFamily="18" charset="0"/>
                <a:cs typeface="Times New Roman" panose="02020603050405020304" pitchFamily="18" charset="0"/>
              </a:rPr>
              <a:t>Future Scope: </a:t>
            </a:r>
          </a:p>
        </p:txBody>
      </p:sp>
      <p:sp>
        <p:nvSpPr>
          <p:cNvPr id="3" name="Subtitle 2">
            <a:extLst>
              <a:ext uri="{FF2B5EF4-FFF2-40B4-BE49-F238E27FC236}">
                <a16:creationId xmlns:a16="http://schemas.microsoft.com/office/drawing/2014/main" id="{30807534-2BE4-F1BC-BEF4-45641F3F3699}"/>
              </a:ext>
            </a:extLst>
          </p:cNvPr>
          <p:cNvSpPr>
            <a:spLocks noGrp="1"/>
          </p:cNvSpPr>
          <p:nvPr>
            <p:ph type="subTitle"/>
          </p:nvPr>
        </p:nvSpPr>
        <p:spPr>
          <a:xfrm>
            <a:off x="322729" y="1162535"/>
            <a:ext cx="8229240" cy="4532929"/>
          </a:xfrm>
        </p:spPr>
        <p:txBody>
          <a:bodyPr/>
          <a:lstStyle/>
          <a:p>
            <a:pPr marL="0" indent="0">
              <a:buNone/>
            </a:pPr>
            <a:r>
              <a:rPr lang="en-US" sz="2400" b="1" dirty="0">
                <a:solidFill>
                  <a:srgbClr val="111111"/>
                </a:solidFill>
                <a:latin typeface="Times New Roman" panose="02020603050405020304" pitchFamily="18" charset="0"/>
                <a:cs typeface="Times New Roman" panose="02020603050405020304" pitchFamily="18" charset="0"/>
              </a:rPr>
              <a:t>1. AI Recommendations: </a:t>
            </a:r>
            <a:r>
              <a:rPr lang="en-US" sz="2400" dirty="0">
                <a:solidFill>
                  <a:srgbClr val="444444"/>
                </a:solidFill>
                <a:latin typeface="Times New Roman" panose="02020603050405020304" pitchFamily="18" charset="0"/>
                <a:cs typeface="Times New Roman" panose="02020603050405020304" pitchFamily="18" charset="0"/>
              </a:rPr>
              <a:t>Implement an AI-based creche suggestion engine using user preferences and pet details.</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solidFill>
                  <a:srgbClr val="111111"/>
                </a:solidFill>
                <a:latin typeface="Times New Roman" panose="02020603050405020304" pitchFamily="18" charset="0"/>
                <a:cs typeface="Times New Roman" panose="02020603050405020304" pitchFamily="18" charset="0"/>
              </a:rPr>
              <a:t>2. Mobile Application: </a:t>
            </a:r>
            <a:r>
              <a:rPr lang="en-US" sz="2400" dirty="0">
                <a:solidFill>
                  <a:srgbClr val="444444"/>
                </a:solidFill>
                <a:latin typeface="Times New Roman" panose="02020603050405020304" pitchFamily="18" charset="0"/>
                <a:cs typeface="Times New Roman" panose="02020603050405020304" pitchFamily="18" charset="0"/>
              </a:rPr>
              <a:t>Develop native iOS and Android apps for broader accessibility and push notifications.</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solidFill>
                  <a:srgbClr val="111111"/>
                </a:solidFill>
                <a:latin typeface="Times New Roman" panose="02020603050405020304" pitchFamily="18" charset="0"/>
                <a:cs typeface="Times New Roman" panose="02020603050405020304" pitchFamily="18" charset="0"/>
              </a:rPr>
              <a:t>3. Online Payments: </a:t>
            </a:r>
            <a:r>
              <a:rPr lang="en-US" sz="2400" dirty="0">
                <a:solidFill>
                  <a:srgbClr val="444444"/>
                </a:solidFill>
                <a:latin typeface="Times New Roman" panose="02020603050405020304" pitchFamily="18" charset="0"/>
                <a:cs typeface="Times New Roman" panose="02020603050405020304" pitchFamily="18" charset="0"/>
              </a:rPr>
              <a:t>Integrate a secure payment gateway for seamless creche booking transactions.</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solidFill>
                  <a:srgbClr val="111111"/>
                </a:solidFill>
                <a:latin typeface="Times New Roman" panose="02020603050405020304" pitchFamily="18" charset="0"/>
                <a:cs typeface="Times New Roman" panose="02020603050405020304" pitchFamily="18" charset="0"/>
              </a:rPr>
              <a:t>4. Pet Health Records: </a:t>
            </a:r>
            <a:r>
              <a:rPr lang="en-US" sz="2400" dirty="0">
                <a:solidFill>
                  <a:srgbClr val="444444"/>
                </a:solidFill>
                <a:latin typeface="Times New Roman" panose="02020603050405020304" pitchFamily="18" charset="0"/>
                <a:cs typeface="Times New Roman" panose="02020603050405020304" pitchFamily="18" charset="0"/>
              </a:rPr>
              <a:t>Allow owners to upload/download vaccination records and medical history.</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solidFill>
                  <a:srgbClr val="111111"/>
                </a:solidFill>
                <a:latin typeface="Times New Roman" panose="02020603050405020304" pitchFamily="18" charset="0"/>
                <a:cs typeface="Times New Roman" panose="02020603050405020304" pitchFamily="18" charset="0"/>
              </a:rPr>
              <a:t>5. Video Tours: </a:t>
            </a:r>
            <a:r>
              <a:rPr lang="en-US" sz="2400" dirty="0">
                <a:solidFill>
                  <a:srgbClr val="444444"/>
                </a:solidFill>
                <a:latin typeface="Times New Roman" panose="02020603050405020304" pitchFamily="18" charset="0"/>
                <a:cs typeface="Times New Roman" panose="02020603050405020304" pitchFamily="18" charset="0"/>
              </a:rPr>
              <a:t>Add virtual tours of creche facilities to help owners make confident decisions.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8510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F49B8-FC47-3127-6CC8-D80F54D37435}"/>
              </a:ext>
            </a:extLst>
          </p:cNvPr>
          <p:cNvSpPr>
            <a:spLocks noGrp="1"/>
          </p:cNvSpPr>
          <p:nvPr>
            <p:ph type="title"/>
          </p:nvPr>
        </p:nvSpPr>
        <p:spPr>
          <a:xfrm>
            <a:off x="313945" y="0"/>
            <a:ext cx="5486040" cy="914040"/>
          </a:xfrm>
        </p:spPr>
        <p:txBody>
          <a:bodyPr/>
          <a:lstStyle/>
          <a:p>
            <a:r>
              <a:rPr lang="en-IN" b="1" dirty="0">
                <a:latin typeface="Times New Roman" panose="02020603050405020304" pitchFamily="18" charset="0"/>
                <a:cs typeface="Times New Roman" panose="02020603050405020304" pitchFamily="18" charset="0"/>
              </a:rPr>
              <a:t>Conclusion: </a:t>
            </a:r>
          </a:p>
        </p:txBody>
      </p:sp>
      <p:sp>
        <p:nvSpPr>
          <p:cNvPr id="3" name="Subtitle 2">
            <a:extLst>
              <a:ext uri="{FF2B5EF4-FFF2-40B4-BE49-F238E27FC236}">
                <a16:creationId xmlns:a16="http://schemas.microsoft.com/office/drawing/2014/main" id="{AF0F9A73-B599-772D-1E37-A82B36D2DED9}"/>
              </a:ext>
            </a:extLst>
          </p:cNvPr>
          <p:cNvSpPr>
            <a:spLocks noGrp="1"/>
          </p:cNvSpPr>
          <p:nvPr>
            <p:ph type="subTitle"/>
          </p:nvPr>
        </p:nvSpPr>
        <p:spPr>
          <a:xfrm>
            <a:off x="313945" y="1122194"/>
            <a:ext cx="8229240" cy="5224818"/>
          </a:xfrm>
        </p:spPr>
        <p:txBody>
          <a:bodyPr/>
          <a:lstStyle/>
          <a:p>
            <a:pPr marL="0" indent="0">
              <a:lnSpc>
                <a:spcPct val="140000"/>
              </a:lnSpc>
              <a:buNone/>
            </a:pPr>
            <a:r>
              <a:rPr lang="en-US" sz="2000" dirty="0">
                <a:solidFill>
                  <a:srgbClr val="444444"/>
                </a:solidFill>
                <a:latin typeface="Times New Roman" panose="02020603050405020304" pitchFamily="18" charset="0"/>
                <a:cs typeface="Times New Roman" panose="02020603050405020304" pitchFamily="18" charset="0"/>
              </a:rPr>
              <a:t>The PetCare project has been successfully developed and implemented as a comprehensive, full-stack web-based pet management platform. It successfully meets all core objectives defined during the planning phase. The system provides a user-friendly interface for secure registration, login, and a feature-rich dashboard for both pet owners and creche operators.</a:t>
            </a:r>
            <a:endParaRPr lang="en-US" sz="2000" dirty="0">
              <a:latin typeface="Times New Roman" panose="02020603050405020304" pitchFamily="18" charset="0"/>
              <a:cs typeface="Times New Roman" panose="02020603050405020304" pitchFamily="18" charset="0"/>
            </a:endParaRPr>
          </a:p>
          <a:p>
            <a:pPr marL="0" indent="0">
              <a:lnSpc>
                <a:spcPct val="140000"/>
              </a:lnSpc>
              <a:buNone/>
            </a:pPr>
            <a:r>
              <a:rPr lang="en-US" sz="2000" dirty="0">
                <a:solidFill>
                  <a:srgbClr val="444444"/>
                </a:solidFill>
                <a:latin typeface="Times New Roman" panose="02020603050405020304" pitchFamily="18" charset="0"/>
                <a:cs typeface="Times New Roman" panose="02020603050405020304" pitchFamily="18" charset="0"/>
              </a:rPr>
              <a:t>The core functionalities creche search and booking, stray animal community posts, real-time comments, and an Admin Dashboard are fully operational. The platform bridges the gap between fragmented pet services, empowering communities to support responsible pet ownership and stray animal welfare through seamless, connected, and scalable technology.</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3935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283696"/>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pic>
        <p:nvPicPr>
          <p:cNvPr id="2" name="Image 0" descr="preencoded.png">
            <a:extLst>
              <a:ext uri="{FF2B5EF4-FFF2-40B4-BE49-F238E27FC236}">
                <a16:creationId xmlns:a16="http://schemas.microsoft.com/office/drawing/2014/main" id="{BD080E75-D272-F232-7B2B-9D6D50998C3B}"/>
              </a:ext>
            </a:extLst>
          </p:cNvPr>
          <p:cNvPicPr>
            <a:picLocks noChangeAspect="1"/>
          </p:cNvPicPr>
          <p:nvPr/>
        </p:nvPicPr>
        <p:blipFill>
          <a:blip r:embed="rId2"/>
          <a:stretch>
            <a:fillRect/>
          </a:stretch>
        </p:blipFill>
        <p:spPr>
          <a:xfrm>
            <a:off x="4206240" y="3694484"/>
            <a:ext cx="731520" cy="731520"/>
          </a:xfrm>
          <a:prstGeom prst="rect">
            <a:avLst/>
          </a:prstGeom>
        </p:spPr>
      </p:pic>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34847</TotalTime>
  <Words>932</Words>
  <Application>Microsoft Office PowerPoint</Application>
  <PresentationFormat>On-screen Show (4:3)</PresentationFormat>
  <Paragraphs>67</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    Acknowledgement</vt:lpstr>
      <vt:lpstr>PowerPoint Presentation</vt:lpstr>
      <vt:lpstr>Problem Statement: </vt:lpstr>
      <vt:lpstr>Objectives: </vt:lpstr>
      <vt:lpstr>Literature Review </vt:lpstr>
      <vt:lpstr>Technology Stack: </vt:lpstr>
      <vt:lpstr>Challenges &amp; Solutions: </vt:lpstr>
      <vt:lpstr>Limitations: </vt:lpstr>
      <vt:lpstr>Future Scope: </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Jasmeet singh</cp:lastModifiedBy>
  <cp:revision>2300</cp:revision>
  <dcterms:created xsi:type="dcterms:W3CDTF">2010-04-09T07:36:15Z</dcterms:created>
  <dcterms:modified xsi:type="dcterms:W3CDTF">2026-05-13T07:53:09Z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